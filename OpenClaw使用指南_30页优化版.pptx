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OpenClaw 使用指南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FF6B6B"/>
                </a:solidFill>
                <a:latin typeface="Microsoft YaHei"/>
              </a:defRPr>
            </a:pPr>
            <a:r>
              <a:t>打造你的AI智能助理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演讲者: 季英国</a:t>
            </a:r>
          </a:p>
          <a:p>
            <a:pPr>
              <a:spcBef>
                <a:spcPts val="800"/>
              </a:spcBef>
              <a:defRPr sz="1200">
                <a:solidFill>
                  <a:srgbClr val="787878"/>
                </a:solidFill>
                <a:latin typeface="Microsoft YaHei"/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关于我 &amp; 课程目标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关于我（季）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OpenClaw深度用户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华为昇腾生态建设者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AI技术爱好者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实战经验丰富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今天你将学到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OpenClaw核心概念与架构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完整部署流程与最佳实践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记忆系统与Skills深度应用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6个真实案例演示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什么是OpenClaw？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定义：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OpenClaw是一个AI智能体平台，让AI从'聊天'进化到'执行'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核心区别：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ChatGPT/Claude是问答对话、知识回答；OpenClaw是任务执行、操作外部系统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一句话总结：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OpenClaw = 大模型大脑 + Skills手脚 + 记忆系统 + 多平台接入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OpenClaw 核心架构详解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🧠 大脑 = 大语言模型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理解推理、任务规划、自然语言处理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029200" cy="2286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🔌 神经系统 =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信息传递、多平台接入、本地运行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029200" cy="2286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🦾 手脚 =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执行操作、外部系统交互、任务完成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029200" cy="2286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📝 记忆 = Memory系统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经验积累、上下文保持、持续学习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为什么选择OpenClaw？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完全开源：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GitHub 297k+ Stars，代码透明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本地部署：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数据不出本地，隐私安全可控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多平台支持：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20+消息渠道，微信钉钉飞书等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主动执行：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定时任务、自动监控，真正解放双手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生态丰富：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13,729+注册技能，5,490+精选技能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一键式安装与核心配置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系统要求：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macOS 12+ / Linux / Windows 10+ (WSL2) | Node.js 18+ | RAM 4GB+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一键安装：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brew install node@20 → npm install -g openclaw → openclaw init → openclaw gateway start → openclaw configure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必装7个核心Skills：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Clawsec安全防护、Tavily Search实时搜索、Multi Search Engine多引擎、Self-Improving自我进化、Proactive主动服务、GitHub代码管理、Office-Automation办公助手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验证安装：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openclaw --version | openclaw gateway status | openclaw config list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网络标准化：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npm config set registry https://registry.npmmirror.com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安装验证与常见问题排查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npm安装失败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网络/镜像问题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切换国内镜像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Gateway启动失败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端口占用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检查18789端口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API Key错误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配置问题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重新openclaw configure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技能安装失败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网络限制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手动安装或换网络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B6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3436"/>
                </a:solidFill>
                <a:latin typeface="Microsoft YaHei"/>
              </a:defRPr>
            </a:pPr>
            <a:r>
              <a:t>记忆系统与Skills深度应用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  <a:latin typeface="Microsoft YaHei"/>
              </a:defRPr>
            </a:pPr>
            <a:r>
              <a:t>如何让AI记住你、理解你、持续进化？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记忆系统架构全景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为什么需要记忆系统：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大模型每次对话都是'全新的'、无法跨会话保持上下文、无法积累经验和偏好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三层记忆体系：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会话级记忆（当前对话，临时数据）、项目级记忆（持久化存储，核心配置）、技能级记忆（技能配置，行为规则）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核心记忆文件（7个）：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SOUL.md身份定义、MEMORY.md核心记忆、AGENTS.md Agent配置、USER.md用户画像、TOOLS.md工具配置、LEARNINGS.md成功经验、ERRORS.md错误记录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Skills深度应用 - 信息获取类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Tavily Search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AI实时搜索，每月1000次免费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基础：search.sh '关键词'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深度：search.sh '关键词' advanced 10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默认使用Tavily（Boss偏好）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Multi Search Engine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多引擎聚合，17个搜索引擎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站内搜索：site:zhihu.com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文件类型：filetype:pdf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C3C3C"/>
                </a:solidFill>
                <a:latin typeface="Microsoft YaHei"/>
              </a:defRPr>
            </a:pPr>
            <a:r>
              <a:t>多引擎对比：中文/英文/技术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Skills深度应用 - 进化与办公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Self-Improving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自我进化Agent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自动记录错误和经验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持续学习优化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46304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Proactive Agent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主动服务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心跳机制15分钟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主动提醒推送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Office-Automation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办公自动化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日程邮件文档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Excel数据分析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记忆系统维护策略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46960" y="18288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32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436"/>
                </a:solidFill>
                <a:latin typeface="Microsoft YaHei"/>
              </a:defRPr>
            </a:pPr>
            <a:r>
              <a:t>每周回顾</a:t>
            </a:r>
            <a:br/>
            <a:r>
              <a:t>（周日）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332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检查新增学习记录、识别重复模式、提取核心学习点、如记录&gt;10条执行归档</a:t>
            </a:r>
          </a:p>
        </p:txBody>
      </p:sp>
      <p:sp>
        <p:nvSpPr>
          <p:cNvPr id="7" name="Oval 6"/>
          <p:cNvSpPr/>
          <p:nvPr/>
        </p:nvSpPr>
        <p:spPr>
          <a:xfrm>
            <a:off x="5852160" y="18288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36720" y="2286000"/>
            <a:ext cx="332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436"/>
                </a:solidFill>
                <a:latin typeface="Microsoft YaHei"/>
              </a:defRPr>
            </a:pPr>
            <a:r>
              <a:t>每月归档</a:t>
            </a:r>
            <a:br/>
            <a:r>
              <a:t>（月末）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6720" y="3108960"/>
            <a:ext cx="332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归档到archive/monthly/、生成月度摘要、清理活跃记录≤10条</a:t>
            </a:r>
          </a:p>
        </p:txBody>
      </p:sp>
      <p:sp>
        <p:nvSpPr>
          <p:cNvPr id="10" name="Oval 9"/>
          <p:cNvSpPr/>
          <p:nvPr/>
        </p:nvSpPr>
        <p:spPr>
          <a:xfrm>
            <a:off x="9357360" y="18288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1920" y="2286000"/>
            <a:ext cx="332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436"/>
                </a:solidFill>
                <a:latin typeface="Microsoft YaHei"/>
              </a:defRPr>
            </a:pPr>
            <a:r>
              <a:t>每季审查</a:t>
            </a:r>
            <a:br/>
            <a:r>
              <a:t>（季末）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1920" y="3108960"/>
            <a:ext cx="332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审查MEMORY.md、更新AGENTS.md、季度总结归档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记忆检索优化实战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问题：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Memory Search太慢（300秒超时）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解决方案1：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禁用慢速功能 memory_search.enabled = false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解决方案2：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关键词索引系统（INDEX.md）快速定位信息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解决方案3：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分类存储学习记录 by-topic/email.md、cron.md等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优化效果：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5-300秒 → &lt;1秒（300倍提升）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预加载核心文件：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SOUL.md、MEMORY.md、INDEX.md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故障排查与调试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响应慢：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检查模型响应时间、禁用慢速功能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技能失效：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clawhub list检查状态、查看技能日志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记忆丢失：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检查记忆文件、验证文件内容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系统化排查流程：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收集信息（version/status/日志）→ 定位问题（网络/API/技能测试）→ 解决问题（重启/重配/更新）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B6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3436"/>
                </a:solidFill>
                <a:latin typeface="Microsoft YaHei"/>
              </a:defRPr>
            </a:pPr>
            <a:r>
              <a:t>实战案例深度解析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  <a:latin typeface="Microsoft YaHei"/>
              </a:defRPr>
            </a:pPr>
            <a:r>
              <a:t>学以致用，实战为王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案例1 - 定时任务自动化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08810" y="18288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436"/>
                </a:solidFill>
                <a:latin typeface="Microsoft YaHei"/>
              </a:defRPr>
            </a:pPr>
            <a:r>
              <a:t>06:00</a:t>
            </a:r>
            <a:br/>
            <a:r>
              <a:t>OpenClaw新闻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24460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Tavily搜索 → 整理Markdown → 生成HTML → 发送邮件 → 飞书通知</a:t>
            </a:r>
          </a:p>
        </p:txBody>
      </p:sp>
      <p:sp>
        <p:nvSpPr>
          <p:cNvPr id="7" name="Oval 6"/>
          <p:cNvSpPr/>
          <p:nvPr/>
        </p:nvSpPr>
        <p:spPr>
          <a:xfrm>
            <a:off x="4537710" y="18288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0420" y="228600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436"/>
                </a:solidFill>
                <a:latin typeface="Microsoft YaHei"/>
              </a:defRPr>
            </a:pPr>
            <a:r>
              <a:t>06:30</a:t>
            </a:r>
            <a:br/>
            <a:r>
              <a:t>AI新闻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0420" y="3108960"/>
            <a:ext cx="24460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Tavily搜索 → 整理Markdown → 生成HTML → 发送邮件 → 飞书通知</a:t>
            </a:r>
          </a:p>
        </p:txBody>
      </p:sp>
      <p:sp>
        <p:nvSpPr>
          <p:cNvPr id="10" name="Oval 9"/>
          <p:cNvSpPr/>
          <p:nvPr/>
        </p:nvSpPr>
        <p:spPr>
          <a:xfrm>
            <a:off x="7166610" y="18288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28600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436"/>
                </a:solidFill>
                <a:latin typeface="Microsoft YaHei"/>
              </a:defRPr>
            </a:pPr>
            <a:r>
              <a:t>07:00</a:t>
            </a:r>
            <a:br/>
            <a:r>
              <a:t>健康科研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108960"/>
            <a:ext cx="24460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权威期刊搜索 → 整理报告 → 发送邮件 → 飞书通知</a:t>
            </a:r>
          </a:p>
        </p:txBody>
      </p:sp>
      <p:sp>
        <p:nvSpPr>
          <p:cNvPr id="13" name="Oval 12"/>
          <p:cNvSpPr/>
          <p:nvPr/>
        </p:nvSpPr>
        <p:spPr>
          <a:xfrm>
            <a:off x="9795510" y="18288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8220" y="228600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436"/>
                </a:solidFill>
                <a:latin typeface="Microsoft YaHei"/>
              </a:defRPr>
            </a:pPr>
            <a:r>
              <a:t>07:30</a:t>
            </a:r>
            <a:br/>
            <a:r>
              <a:t>华为昇腾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8220" y="3108960"/>
            <a:ext cx="24460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官方渠道搜索 → 整理报告 → 发送邮件 → 飞书通知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案例2 - 邮件自动化系统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任务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收件人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OpenClaw新闻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06:00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QQ+华为邮箱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✅ 正常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AI新闻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06:30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QQ+华为邮箱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✅ 正常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健康科研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07:00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QQ+华为邮箱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✅ 正常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华为昇腾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07:30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QQ+华为+飞书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✅ 新增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案例3 - 语音交互系统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场景：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语音输入 + 语音回复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技术栈：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Azure TTS引擎、音色zh-CN-XiaoyiNeural（年轻女声，活泼）、语速+30%、输出MP3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使用场景：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新闻播报、消息提醒、内容朗读、多语言支持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流程：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文本 → Azure TTS → MP3 → 飞书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案例4 - 智能内容生成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内容类型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耗时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质量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AI新闻摘要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5分钟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⭐⭐⭐⭐⭐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竞品分析报告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10分钟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技术博客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15分钟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⭐⭐⭐⭐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微信公众号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20分钟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Microsoft YaHei"/>
                        </a:defRPr>
                      </a:pPr>
                      <a:r>
                        <a:t>⭐⭐⭐⭐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案例5 - Agent团队协作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Agent团队架构：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总指挥(main)任务识别与分发、笔杆子(creator)内容创作、参谋(canmou)深度研究、进化官(jihua)代码开发、交易官(jiaoyi)股票监控、社区官(shequ)社区运营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公众号文章生成流程：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老板提出需求 → 参谋Agent深度调研（3分29秒）→ 笔杆子Agent撰写文章（50秒）→ 尝试API自动发布 → 生成手工发布辅助工具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成果：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调研报告 + 2800字文章 + 发布辅助工具、总耗时4分19秒（传统方式需数小时）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高级技巧 - 性能优化与安全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禁用慢速功能、关键词索引系统、预加载核心文件、5-300秒→&lt;1秒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029200" cy="2286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数据安全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数据不出本地、不依赖云端、可完全离线运行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029200" cy="2286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隐私保护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聊天记录本地存储、API Key本地加密、自主控制数据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029200" cy="2286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安全配置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文件权限管理、环境变量保护、定期备份策略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高级技巧 - 扩展与定制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自定义Agent：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配置专属Agent、指定模型和Skills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自定义Skill开发：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创建Skill目录、编写SKILL.md、编写执行脚本、发布到ClawHub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Skill目录结构：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SKILL.md（技能说明）、scripts/（可执行脚本）、assets/（资源文件）、_meta.json（元数据）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集成外部服务：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企业微信、钉钉、Slack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价值总结与最佳实践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OpenClaw核心价值：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效率提升（自动化任务，效率提升10倍+）、成本降低（开源免费，本地部署）、能力扩展（5400+技能生态，持续进化）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DO：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定期备份、记录经验、使用版本控制、启用Self-Improving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DON'T：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硬编码敏感信息、忽视安全扫描、忽略学习记录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成功秘诀：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从简单任务开始逐步自动化、建立记忆系统持续优化、多Agent协作分工明确、定期回顾提取模式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Q&amp;A 与资源推荐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Q: OpenClaw适合什么人群？A: 开发者、产品经理、运营人员、任何想提升效率的人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Q: 学习曲线如何？A: 基础使用30分钟上手，深度定制需要1-2周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Q: 与ChatGPT的关系？A: 互补关系。ChatGPT适合问答，OpenClaw适合执行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资源推荐：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GitHub github.com/openclaw/openclaw、官方文档 docs.openclaw.ai、ClawHub技能市场 clawhub.com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附录 - 核心数据汇总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GitHub Stars: 297,000+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技能数量: 13,729+（注册表）/ 5,490+（精选）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支持平台: 20+ 消息渠道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首次发布: 2025年11月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案例6耗时: 4分19秒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400" b="1">
                <a:solidFill>
                  <a:srgbClr val="2D3436"/>
                </a:solidFill>
                <a:latin typeface="Microsoft YaHei"/>
              </a:rPr>
              <a:t>演讲时间分配：</a:t>
            </a:r>
            <a:r>
              <a:rPr sz="1400">
                <a:solidFill>
                  <a:srgbClr val="3C3C3C"/>
                </a:solidFill>
                <a:latin typeface="Microsoft YaHei"/>
              </a:rPr>
              <a:t>第一部分10分钟、第二部分15分钟、第三部分30分钟、Q&amp;A 5分钟（总计60分钟）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Microsoft YaHei"/>
              </a:defRPr>
            </a:pPr>
            <a:r>
              <a:t>金句汇总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最好的产品，往往源于创始人自己的痛点。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问答式AI是过去，执行式AI才是未来。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AI不是要取代人，而是要取代那些让人烦死的工作。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未来已来，只是分布不均。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400">
                <a:solidFill>
                  <a:srgbClr val="3C3C3C"/>
                </a:solidFill>
                <a:latin typeface="Microsoft YaHei"/>
              </a:defRPr>
            </a:pPr>
            <a:r>
              <a:t>那些愿意拥抱变化的人，总是走在前面。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