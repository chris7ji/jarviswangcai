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A58169"/>
                </a:solidFill>
                <a:latin typeface="Source Han Sans CN"/>
              </a:defRPr>
            </a:pPr>
            <a:r>
              <a:t>OpenClaw 使用指南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6F7A61"/>
                </a:solidFill>
                <a:latin typeface="Source Han Sans CN"/>
              </a:defRPr>
            </a:pPr>
            <a:r>
              <a:t>打造你的AI智能助理</a:t>
            </a:r>
          </a:p>
          <a:p>
            <a:pPr algn="ctr">
              <a:defRPr sz="2400">
                <a:solidFill>
                  <a:srgbClr val="6F7A61"/>
                </a:solidFill>
                <a:latin typeface="Source Han Sans CN"/>
              </a:defRPr>
            </a:pPr>
            <a:r>
              <a:t>季英国 |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6F7A61"/>
                </a:solidFill>
                <a:latin typeface="Source Han Sans CN"/>
              </a:defRPr>
            </a:pPr>
            <a:r>
              <a:t>关于课程目标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7315200" cy="4114800"/>
          </a:xfrm>
        </p:spPr>
        <p:txBody>
          <a:bodyPr/>
          <a:lstStyle/>
          <a:p>
            <a:pPr>
              <a:defRPr sz="1800">
                <a:solidFill>
                  <a:srgbClr val="505050"/>
                </a:solidFill>
                <a:latin typeface="Microsoft YaHei"/>
              </a:defRPr>
            </a:pPr>
            <a:r>
              <a:t>今天你将学到：</a:t>
            </a:r>
          </a:p>
          <a:p>
            <a:pPr>
              <a:defRPr sz="1800">
                <a:solidFill>
                  <a:srgbClr val="505050"/>
                </a:solidFill>
                <a:latin typeface="Microsoft YaHei"/>
              </a:defRPr>
            </a:pPr>
            <a:r>
              <a:t>• OpenClaw核心概念与架构</a:t>
            </a:r>
          </a:p>
          <a:p>
            <a:pPr>
              <a:defRPr sz="1800">
                <a:solidFill>
                  <a:srgbClr val="505050"/>
                </a:solidFill>
                <a:latin typeface="Microsoft YaHei"/>
              </a:defRPr>
            </a:pPr>
            <a:r>
              <a:t>• 完整部署流程与最佳实践</a:t>
            </a:r>
          </a:p>
          <a:p>
            <a:pPr>
              <a:defRPr sz="1800">
                <a:solidFill>
                  <a:srgbClr val="505050"/>
                </a:solidFill>
                <a:latin typeface="Microsoft YaHei"/>
              </a:defRPr>
            </a:pPr>
            <a:r>
              <a:t>• 记忆系统与Skills深度应用</a:t>
            </a:r>
          </a:p>
          <a:p>
            <a:pPr>
              <a:defRPr sz="1800">
                <a:solidFill>
                  <a:srgbClr val="505050"/>
                </a:solidFill>
                <a:latin typeface="Microsoft YaHei"/>
              </a:defRPr>
            </a:pPr>
            <a:r>
              <a:t>• 6个真实案例演示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D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